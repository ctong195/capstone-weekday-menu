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94360"/>
            <a:ext cx="1243584" cy="310896"/>
          </a:xfrm>
          <a:prstGeom prst="roundRect">
            <a:avLst/>
          </a:prstGeom>
          <a:solidFill>
            <a:srgbClr val="14532D"/>
          </a:solidFill>
          <a:ln>
            <a:solidFill>
              <a:srgbClr val="14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243584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TEAM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43584"/>
            <a:ext cx="6858000" cy="1417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tos"/>
              </a:rPr>
              <a:t>How I used GitHub
Copilot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61488"/>
            <a:ext cx="713232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22C55E"/>
                </a:solidFill>
                <a:latin typeface="Aptos"/>
              </a:rPr>
              <a:t>to build the Weekday Menu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29000"/>
            <a:ext cx="649224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Aptos"/>
              </a:rPr>
              <a:t>From product rules to working code, local preview, and a pull request.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078992"/>
            <a:ext cx="3456432" cy="190195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02168" y="1362456"/>
            <a:ext cx="12801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4532D"/>
                </a:solidFill>
                <a:latin typeface="Aptos"/>
              </a:rPr>
              <a:t>MY ROLE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02168" y="1737360"/>
            <a:ext cx="2697480" cy="9418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Set the goals
Define constraints
Review the result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3273552"/>
            <a:ext cx="3456432" cy="1901952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2168" y="3557016"/>
            <a:ext cx="13716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4532D"/>
                </a:solidFill>
                <a:latin typeface="Aptos"/>
              </a:rPr>
              <a:t>AGENT ROLE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2168" y="3931920"/>
            <a:ext cx="2697480" cy="9418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Explore the repo
Implement and test
Prepare delivery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108192"/>
            <a:ext cx="466344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Aptos"/>
              </a:rPr>
              <a:t>Chin Tong  ·  Capstone walkthrough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8463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Aptos"/>
              </a:rPr>
              <a:t>1 · START WITH CLARITY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881360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0F172A"/>
                </a:solidFill>
                <a:latin typeface="Aptos"/>
              </a:rPr>
              <a:t>I gave the agent explicit product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98448"/>
            <a:ext cx="10744200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tos"/>
              </a:rPr>
              <a:t>The agent had freedom to implement, but the business behavior and acceptance criteria were mine to define.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5029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029968"/>
            <a:ext cx="2029968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8952" y="2194560"/>
            <a:ext cx="109728" cy="905256"/>
          </a:xfrm>
          <a:prstGeom prst="rect">
            <a:avLst/>
          </a:prstGeom>
          <a:solidFill>
            <a:srgbClr val="14532D"/>
          </a:solidFill>
          <a:ln>
            <a:solidFill>
              <a:srgbClr val="14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249424"/>
            <a:ext cx="137160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4532D"/>
                </a:solidFill>
                <a:latin typeface="Aptos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34056"/>
            <a:ext cx="1371600" cy="3383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34155"/>
                </a:solidFill>
                <a:latin typeface="Aptos"/>
              </a:rPr>
              <a:t>DISHES EACH WEEKDAY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62072" y="2029968"/>
            <a:ext cx="2029968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26664" y="2194560"/>
            <a:ext cx="109728" cy="90525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73552" y="2249424"/>
            <a:ext cx="137160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ptos"/>
              </a:rPr>
              <a:t>$15.95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3552" y="2734056"/>
            <a:ext cx="1371600" cy="3383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34155"/>
                </a:solidFill>
                <a:latin typeface="Aptos"/>
              </a:rPr>
              <a:t>FIXED PRICE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9784" y="2029968"/>
            <a:ext cx="2029968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294376" y="2194560"/>
            <a:ext cx="109728" cy="905256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41264" y="2249424"/>
            <a:ext cx="137160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59E0B"/>
                </a:solidFill>
                <a:latin typeface="Aptos"/>
              </a:rPr>
              <a:t>15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41264" y="2734056"/>
            <a:ext cx="1371600" cy="3383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34155"/>
                </a:solidFill>
                <a:latin typeface="Aptos"/>
              </a:rPr>
              <a:t>PICKUP INTERVAL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97496" y="2029968"/>
            <a:ext cx="2029968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62088" y="2194560"/>
            <a:ext cx="109728" cy="905256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08975" y="2249424"/>
            <a:ext cx="137160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8B5CF6"/>
                </a:solidFill>
                <a:latin typeface="Aptos"/>
              </a:rPr>
              <a:t>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08975" y="2734056"/>
            <a:ext cx="1371600" cy="3383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34155"/>
                </a:solidFill>
                <a:latin typeface="Aptos"/>
              </a:rPr>
              <a:t>MEALS PER SLOT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65208" y="2029968"/>
            <a:ext cx="2029968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829800" y="2194560"/>
            <a:ext cx="109728" cy="905256"/>
          </a:xfrm>
          <a:prstGeom prst="rect">
            <a:avLst/>
          </a:prstGeom>
          <a:solidFill>
            <a:srgbClr val="14532D"/>
          </a:solidFill>
          <a:ln>
            <a:solidFill>
              <a:srgbClr val="14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76688" y="2249424"/>
            <a:ext cx="137160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4532D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76688" y="2734056"/>
            <a:ext cx="1371600" cy="3383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34155"/>
                </a:solidFill>
                <a:latin typeface="Aptos"/>
              </a:rPr>
              <a:t>PAYMENT OPTIONS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3703320"/>
            <a:ext cx="11100816" cy="196596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3977639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Aptos"/>
              </a:rPr>
              <a:t>THE PROMPTING PRINCIPLE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434840"/>
            <a:ext cx="6537960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Describe outcomes and constraints—not every line of code.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074920"/>
            <a:ext cx="987552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tos"/>
              </a:rPr>
              <a:t>Copilot Agent translated the rules into a FastAPI service, browser UI, order flow, and automated tests.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56692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GITHUB COPILOT AGENT  /  WEEKDAY MENU APP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8463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Aptos"/>
              </a:rPr>
              <a:t>2 · WORK PROGRESSIVELY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881360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0F172A"/>
                </a:solidFill>
                <a:latin typeface="Aptos"/>
              </a:rPr>
              <a:t>I replaced one giant prompt with three focused stages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98448"/>
            <a:ext cx="10744200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tos"/>
              </a:rPr>
              <a:t>Each stage created durable repository context before the next implementation decision.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5029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03120"/>
            <a:ext cx="34290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340864"/>
            <a:ext cx="548640" cy="548640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40864"/>
            <a:ext cx="548640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14532D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90672"/>
            <a:ext cx="288036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ptos"/>
              </a:rPr>
              <a:t>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84448"/>
            <a:ext cx="2880360" cy="7132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tos"/>
              </a:rPr>
              <a:t>User journey · menu presentation · API data · UX decisions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2103120"/>
            <a:ext cx="34290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08576" y="2340864"/>
            <a:ext cx="548640" cy="548640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2340864"/>
            <a:ext cx="548640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3B82F6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3090672"/>
            <a:ext cx="288036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ptos"/>
              </a:rPr>
              <a:t>Implementation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3584448"/>
            <a:ext cx="2880360" cy="7132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tos"/>
              </a:rPr>
              <a:t>Backend responsibilities · frontend responsibilities · build order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65592" y="2103120"/>
            <a:ext cx="34290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94192" y="2340864"/>
            <a:ext cx="548640" cy="548640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94192" y="2340864"/>
            <a:ext cx="548640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59E0B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3090672"/>
            <a:ext cx="288036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ptos"/>
              </a:rPr>
              <a:t>Testing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3584448"/>
            <a:ext cx="2880360" cy="7132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tos"/>
              </a:rPr>
              <a:t>Business rules · API errors · payment behavior · release gate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115568" y="5285232"/>
            <a:ext cx="9948672" cy="0"/>
          </a:xfrm>
          <a:prstGeom prst="line">
            <a:avLst/>
          </a:prstGeom>
          <a:ln w="508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97280" y="5010912"/>
            <a:ext cx="2240280" cy="566928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202936"/>
            <a:ext cx="22402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SMALL PROMPTS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0" y="5010912"/>
            <a:ext cx="2240280" cy="566928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0" y="5202936"/>
            <a:ext cx="22402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REPOSITORY CONTEXT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89520" y="5010912"/>
            <a:ext cx="2240280" cy="566928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0" y="5202936"/>
            <a:ext cx="22402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END-TO-END CHANGES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10528"/>
            <a:ext cx="56692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GITHUB COPILOT AGENT  /  WEEKDAY MENU 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8463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Aptos"/>
              </a:rPr>
              <a:t>3 · CLOSE THE ENGINEERING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881360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0F172A"/>
                </a:solidFill>
                <a:latin typeface="Aptos"/>
              </a:rPr>
              <a:t>The agent implemented, validated, previewed, and shipped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98448"/>
            <a:ext cx="10744200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tos"/>
              </a:rPr>
              <a:t>I stayed in control by reviewing evidence and the running application before asking for delivery.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5029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04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508760" y="2487168"/>
            <a:ext cx="1371600" cy="0"/>
          </a:xfrm>
          <a:prstGeom prst="line">
            <a:avLst/>
          </a:prstGeom>
          <a:ln w="381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024127" y="2212848"/>
            <a:ext cx="5029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14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86000"/>
            <a:ext cx="438912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14532D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2834640"/>
            <a:ext cx="10789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Aptos"/>
              </a:rPr>
              <a:t>Explore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59" y="3227832"/>
            <a:ext cx="1353312" cy="4937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Aptos"/>
              </a:rPr>
              <a:t>Read source, docs,
and tests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794760" y="2487168"/>
            <a:ext cx="1371600" cy="0"/>
          </a:xfrm>
          <a:prstGeom prst="line">
            <a:avLst/>
          </a:prstGeom>
          <a:ln w="381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310128" y="2212848"/>
            <a:ext cx="5029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2286000"/>
            <a:ext cx="438912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3B82F6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834640"/>
            <a:ext cx="10789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Aptos"/>
              </a:rPr>
              <a:t>Implement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3227832"/>
            <a:ext cx="1353312" cy="4937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Aptos"/>
              </a:rPr>
              <a:t>Update API, UI,
and fallback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80760" y="2487168"/>
            <a:ext cx="1371600" cy="0"/>
          </a:xfrm>
          <a:prstGeom prst="line">
            <a:avLst/>
          </a:prstGeom>
          <a:ln w="381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596128" y="2212848"/>
            <a:ext cx="5029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23560" y="2286000"/>
            <a:ext cx="438912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59E0B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2834640"/>
            <a:ext cx="10789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Aptos"/>
              </a:rPr>
              <a:t>Validate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3227832"/>
            <a:ext cx="1353312" cy="4937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Aptos"/>
              </a:rPr>
              <a:t>Run tests and
syntax checks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366760" y="2487168"/>
            <a:ext cx="1371600" cy="0"/>
          </a:xfrm>
          <a:prstGeom prst="line">
            <a:avLst/>
          </a:prstGeom>
          <a:ln w="381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882128" y="2212848"/>
            <a:ext cx="5029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09560" y="2286000"/>
            <a:ext cx="438912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8B5CF6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2834640"/>
            <a:ext cx="10789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Aptos"/>
              </a:rPr>
              <a:t>Preview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3227832"/>
            <a:ext cx="1353312" cy="4937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Aptos"/>
              </a:rPr>
              <a:t>Start server and
open browser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68128" y="2212848"/>
            <a:ext cx="5029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14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95560" y="2286000"/>
            <a:ext cx="438912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14532D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2834640"/>
            <a:ext cx="10789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Aptos"/>
              </a:rPr>
              <a:t>Deliver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38360" y="3227832"/>
            <a:ext cx="1353312" cy="4937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Aptos"/>
              </a:rPr>
              <a:t>Commit, push,
and create PR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4251960"/>
            <a:ext cx="11100816" cy="13258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4535424"/>
            <a:ext cx="65836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2C55E"/>
                </a:solidFill>
                <a:latin typeface="Aptos"/>
              </a:rPr>
              <a:t>5/5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81912" y="4581144"/>
            <a:ext cx="123444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tests passed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7520" y="4535424"/>
            <a:ext cx="65836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2C55E"/>
                </a:solidFill>
                <a:latin typeface="Aptos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30752" y="4581144"/>
            <a:ext cx="123444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JavaScript valid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4535424"/>
            <a:ext cx="65836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2C55E"/>
                </a:solidFill>
                <a:latin typeface="Aptos"/>
              </a:rPr>
              <a:t>200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79592" y="4581144"/>
            <a:ext cx="123444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health response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4535424"/>
            <a:ext cx="65836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2C55E"/>
                </a:solidFill>
                <a:latin typeface="Aptos"/>
              </a:rPr>
              <a:t>UI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28431" y="4581144"/>
            <a:ext cx="123444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reviewed locally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64040" y="4535424"/>
            <a:ext cx="65836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2C55E"/>
                </a:solidFill>
                <a:latin typeface="Aptos"/>
              </a:rPr>
              <a:t>PR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77272" y="4581144"/>
            <a:ext cx="123444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opened with evidence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6510528"/>
            <a:ext cx="56692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GITHUB COPILOT AGENT  /  WEEKDAY MENU APP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8463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Aptos"/>
              </a:rPr>
              <a:t>WHAT I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881360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0F172A"/>
                </a:solidFill>
                <a:latin typeface="Aptos"/>
              </a:rPr>
              <a:t>Copilot Agent amplified execution—not ownership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98448"/>
            <a:ext cx="10744200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tos"/>
              </a:rPr>
              <a:t>The strongest result came from combining human judgment with an agent that could operate across the full repository workflow.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5029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057400"/>
            <a:ext cx="52578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58568"/>
            <a:ext cx="109728" cy="621792"/>
          </a:xfrm>
          <a:prstGeom prst="rect">
            <a:avLst/>
          </a:prstGeom>
          <a:solidFill>
            <a:srgbClr val="14532D"/>
          </a:solidFill>
          <a:ln>
            <a:solidFill>
              <a:srgbClr val="14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2240280"/>
            <a:ext cx="4434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I owned the product decisions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2587752"/>
            <a:ext cx="4434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Goals and constraints stayed explicit.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45936" y="2057400"/>
            <a:ext cx="52578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28816" y="2258568"/>
            <a:ext cx="109728" cy="62179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21424" y="2240280"/>
            <a:ext cx="4434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Context lived with the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21424" y="2587752"/>
            <a:ext cx="4434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Specs and progress made decisions traceable.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310128"/>
            <a:ext cx="52578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11296"/>
            <a:ext cx="109728" cy="62179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9848" y="3493008"/>
            <a:ext cx="4434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Changes moved end to 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3840480"/>
            <a:ext cx="4434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API, UI, tests, and docs stayed aligned.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45936" y="3310128"/>
            <a:ext cx="52578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28816" y="3511296"/>
            <a:ext cx="109728" cy="621792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21424" y="3493008"/>
            <a:ext cx="4434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Validation was part of delivery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21424" y="3840480"/>
            <a:ext cx="4434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Working software—not generated text—was the proof.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4754880"/>
            <a:ext cx="11009376" cy="1078992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102352"/>
            <a:ext cx="103784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Define clearly  →  discover progressively  →  implement end to end  →  validate  →  deliver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56692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GITHUB COPILOT AGENT  /  WEEKDAY MENU 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I Used GitHub Copilot Agent</dc:title>
  <dc:subject>Building the Weekday Menu App</dc:subject>
  <dc:creator>Chin Tong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